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</c:v>
                </c:pt>
              </c:strCache>
            </c:strRef>
          </c:tx>
          <c:spPr>
            <a:ln w="38100">
              <a:solidFill>
                <a:srgbClr val="8A9BA8"/>
              </a:solidFill>
              <a:prstDash val="dash"/>
            </a:ln>
          </c:spPr>
          <c:marker>
            <c:spPr>
              <a:solidFill>
                <a:srgbClr val="8A9BA8"/>
              </a:solidFill>
              <a:ln>
                <a:solidFill>
                  <a:srgbClr val="8A9BA8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40.0</c:v>
                </c:pt>
                <c:pt idx="1">
                  <c:v>35.6</c:v>
                </c:pt>
                <c:pt idx="2">
                  <c:v>31.1</c:v>
                </c:pt>
                <c:pt idx="3">
                  <c:v>26.7</c:v>
                </c:pt>
                <c:pt idx="4">
                  <c:v>22.2</c:v>
                </c:pt>
                <c:pt idx="5">
                  <c:v>17.8</c:v>
                </c:pt>
                <c:pt idx="6">
                  <c:v>13.3</c:v>
                </c:pt>
                <c:pt idx="7">
                  <c:v>8.9</c:v>
                </c:pt>
                <c:pt idx="8">
                  <c:v>4.4</c:v>
                </c:pt>
                <c:pt idx="9">
                  <c:v>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ln w="38100">
              <a:solidFill>
                <a:srgbClr val="ED0007"/>
              </a:solidFill>
            </a:ln>
          </c:spPr>
          <c:marker>
            <c:spPr>
              <a:solidFill>
                <a:srgbClr val="ED0007"/>
              </a:solidFill>
              <a:ln>
                <a:solidFill>
                  <a:srgbClr val="ED0007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40</c:v>
                </c:pt>
                <c:pt idx="1">
                  <c:v>38</c:v>
                </c:pt>
                <c:pt idx="2">
                  <c:v>35</c:v>
                </c:pt>
                <c:pt idx="3">
                  <c:v>33</c:v>
                </c:pt>
                <c:pt idx="4">
                  <c:v>28</c:v>
                </c:pt>
                <c:pt idx="5">
                  <c:v>24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BEF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>
                    <a:latin typeface="Arial"/>
                  </a:rPr>
                  <a:t>Story points remaining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Committed</c:v>
                </c:pt>
              </c:strCache>
            </c:strRef>
          </c:tx>
          <c:spPr>
            <a:solidFill>
              <a:srgbClr val="00A9E0"/>
            </a:solidFill>
          </c:spPr>
          <c:cat>
            <c:strRef>
              <c:f>Sheet1!$A$2:$A$6</c:f>
              <c:strCache>
                <c:ptCount val="5"/>
                <c:pt idx="0">
                  <c:v>S7</c:v>
                </c:pt>
                <c:pt idx="1">
                  <c:v>S8</c:v>
                </c:pt>
                <c:pt idx="2">
                  <c:v>S9</c:v>
                </c:pt>
                <c:pt idx="3">
                  <c:v>S10</c:v>
                </c:pt>
                <c:pt idx="4">
                  <c:v>S11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</c:v>
                </c:pt>
                <c:pt idx="1">
                  <c:v>36</c:v>
                </c:pt>
                <c:pt idx="2">
                  <c:v>38</c:v>
                </c:pt>
                <c:pt idx="3">
                  <c:v>38</c:v>
                </c:pt>
                <c:pt idx="4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005691"/>
            </a:solidFill>
          </c:spPr>
          <c:cat>
            <c:strRef>
              <c:f>Sheet1!$A$2:$A$6</c:f>
              <c:strCache>
                <c:ptCount val="5"/>
                <c:pt idx="0">
                  <c:v>S7</c:v>
                </c:pt>
                <c:pt idx="1">
                  <c:v>S8</c:v>
                </c:pt>
                <c:pt idx="2">
                  <c:v>S9</c:v>
                </c:pt>
                <c:pt idx="3">
                  <c:v>S10</c:v>
                </c:pt>
                <c:pt idx="4">
                  <c:v>S11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</c:v>
                </c:pt>
                <c:pt idx="1">
                  <c:v>33</c:v>
                </c:pt>
                <c:pt idx="2">
                  <c:v>35</c:v>
                </c:pt>
                <c:pt idx="3">
                  <c:v>38</c:v>
                </c:pt>
                <c:pt idx="4">
                  <c:v>36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BEF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>
                    <a:latin typeface="Arial"/>
                  </a:rPr>
                  <a:t>Story points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latin typeface="Arial"/>
            </a:defRPr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ACK-101: Merged with 92% coverage; OpenAPI spec published.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ACK-103: Ticket raised with vendor on Tuesday; no response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CKE Logo" descr="acke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731520"/>
            <a:ext cx="3182112" cy="82296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731520" y="2468880"/>
            <a:ext cx="8686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Weekly Scrum
Status Report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731520" y="41605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00A9E0"/>
                </a:solidFill>
                <a:latin typeface="Arial"/>
              </a:rPr>
              <a:t>Digital Twin Team  ·  Sprint 3</a:t>
            </a:r>
          </a:p>
        </p:txBody>
      </p:sp>
      <p:sp>
        <p:nvSpPr>
          <p:cNvPr id="6" name="Dates"/>
          <p:cNvSpPr txBox="1"/>
          <p:nvPr/>
        </p:nvSpPr>
        <p:spPr>
          <a:xfrm>
            <a:off x="731520" y="47091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12 – 16 Oct 2026  (W42)</a:t>
            </a:r>
          </a:p>
        </p:txBody>
      </p:sp>
      <p:sp>
        <p:nvSpPr>
          <p:cNvPr id="7" name="PreparedBy"/>
          <p:cNvSpPr txBox="1"/>
          <p:nvPr/>
        </p:nvSpPr>
        <p:spPr>
          <a:xfrm>
            <a:off x="731520" y="59436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Prepared by Scrum Master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365760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5691"/>
                </a:solidFill>
                <a:latin typeface="Arial"/>
              </a:rPr>
              <a:t>Executive Summary</a:t>
            </a:r>
          </a:p>
        </p:txBody>
      </p:sp>
      <p:sp>
        <p:nvSpPr>
          <p:cNvPr id="4" name="Accent"/>
          <p:cNvSpPr/>
          <p:nvPr/>
        </p:nvSpPr>
        <p:spPr>
          <a:xfrm>
            <a:off x="548640" y="1115568"/>
            <a:ext cx="822960" cy="54864"/>
          </a:xfrm>
          <a:prstGeom prst="rect">
            <a:avLst/>
          </a:prstGeom>
          <a:solidFill>
            <a:srgbClr val="ED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Icon" descr="go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411480"/>
            <a:ext cx="640080" cy="640080"/>
          </a:xfrm>
          <a:prstGeom prst="rect">
            <a:avLst/>
          </a:prstGeom>
        </p:spPr>
      </p:pic>
      <p:pic>
        <p:nvPicPr>
          <p:cNvPr id="6" name="ACKE Mark" descr="acke-logo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73952"/>
            <a:ext cx="292608" cy="292608"/>
          </a:xfrm>
          <a:prstGeom prst="rect">
            <a:avLst/>
          </a:prstGeom>
        </p:spPr>
      </p:pic>
      <p:sp>
        <p:nvSpPr>
          <p:cNvPr id="7" name="Footer"/>
          <p:cNvSpPr txBox="1"/>
          <p:nvPr/>
        </p:nvSpPr>
        <p:spPr>
          <a:xfrm>
            <a:off x="960120" y="6473952"/>
            <a:ext cx="8686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263238"/>
                </a:solidFill>
                <a:latin typeface="Arial"/>
              </a:rPr>
              <a:t>ACKE.in  |  Weekly Scrum Status  |  Digital Twin Team  |  Sprint 3  |  W42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98480" y="6473952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263238"/>
                </a:solidFill>
                <a:latin typeface="Arial"/>
              </a:rPr>
              <a:t>2</a:t>
            </a:r>
          </a:p>
        </p:txBody>
      </p:sp>
      <p:sp>
        <p:nvSpPr>
          <p:cNvPr id="9" name="RAG"/>
          <p:cNvSpPr/>
          <p:nvPr/>
        </p:nvSpPr>
        <p:spPr>
          <a:xfrm>
            <a:off x="548640" y="1417320"/>
            <a:ext cx="1828800" cy="4572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63238"/>
                </a:solidFill>
                <a:latin typeface="Arial"/>
              </a:rPr>
              <a:t>AT RISK</a:t>
            </a:r>
          </a:p>
        </p:txBody>
      </p:sp>
      <p:sp>
        <p:nvSpPr>
          <p:cNvPr id="10" name="RAGReason"/>
          <p:cNvSpPr txBox="1"/>
          <p:nvPr/>
        </p:nvSpPr>
        <p:spPr>
          <a:xfrm>
            <a:off x="2606040" y="141732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63238"/>
                </a:solidFill>
                <a:latin typeface="Arial"/>
              </a:rPr>
              <a:t>Two items blocked on external dependencies</a:t>
            </a:r>
          </a:p>
        </p:txBody>
      </p:sp>
      <p:sp>
        <p:nvSpPr>
          <p:cNvPr id="11" name="Bullets"/>
          <p:cNvSpPr txBox="1"/>
          <p:nvPr/>
        </p:nvSpPr>
        <p:spPr>
          <a:xfrm>
            <a:off x="548640" y="2240280"/>
            <a:ext cx="68580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1000"/>
              </a:spcAft>
              <a:buClr>
                <a:srgbClr val="ED0007"/>
              </a:buClr>
              <a:buChar char="•"/>
            </a:pPr>
            <a:r>
              <a:rPr sz="1800" b="0">
                <a:solidFill>
                  <a:srgbClr val="263238"/>
                </a:solidFill>
                <a:latin typeface="Arial"/>
              </a:rPr>
              <a:t>24 of 40 story points completed at mid-sprint</a:t>
            </a:r>
          </a:p>
          <a:p>
            <a:pPr marL="285750" indent="-285750">
              <a:spcAft>
                <a:spcPts val="1000"/>
              </a:spcAft>
              <a:buClr>
                <a:srgbClr val="ED0007"/>
              </a:buClr>
              <a:buChar char="•"/>
            </a:pPr>
            <a:r>
              <a:rPr sz="1800" b="0">
                <a:solidFill>
                  <a:srgbClr val="263238"/>
                </a:solidFill>
                <a:latin typeface="Arial"/>
              </a:rPr>
              <a:t>Onboarding API and audit logging merged</a:t>
            </a:r>
          </a:p>
          <a:p>
            <a:pPr marL="285750" indent="-285750">
              <a:spcAft>
                <a:spcPts val="1000"/>
              </a:spcAft>
              <a:buClr>
                <a:srgbClr val="ED0007"/>
              </a:buClr>
              <a:buChar char="•"/>
            </a:pPr>
            <a:r>
              <a:rPr sz="1800" b="0">
                <a:solidFill>
                  <a:srgbClr val="263238"/>
                </a:solidFill>
                <a:latin typeface="Arial"/>
              </a:rPr>
              <a:t>SSO integration blocked on vendor sandbox access</a:t>
            </a:r>
          </a:p>
          <a:p>
            <a:pPr marL="285750" indent="-285750">
              <a:spcAft>
                <a:spcPts val="1000"/>
              </a:spcAft>
              <a:buClr>
                <a:srgbClr val="ED0007"/>
              </a:buClr>
              <a:buChar char="•"/>
            </a:pPr>
            <a:r>
              <a:rPr sz="1800" b="0">
                <a:solidFill>
                  <a:srgbClr val="263238"/>
                </a:solidFill>
                <a:latin typeface="Arial"/>
              </a:rPr>
              <a:t>Test environment instability cost about one day</a:t>
            </a:r>
          </a:p>
          <a:p>
            <a:pPr marL="285750" indent="-285750">
              <a:spcAft>
                <a:spcPts val="1000"/>
              </a:spcAft>
              <a:buClr>
                <a:srgbClr val="ED0007"/>
              </a:buClr>
              <a:buChar char="•"/>
            </a:pPr>
            <a:r>
              <a:rPr sz="1800" b="0">
                <a:solidFill>
                  <a:srgbClr val="263238"/>
                </a:solidFill>
                <a:latin typeface="Arial"/>
              </a:rPr>
              <a:t>Burndown slightly behind ideal; recoverable</a:t>
            </a:r>
          </a:p>
        </p:txBody>
      </p:sp>
      <p:sp>
        <p:nvSpPr>
          <p:cNvPr id="12" name="Card"/>
          <p:cNvSpPr/>
          <p:nvPr/>
        </p:nvSpPr>
        <p:spPr>
          <a:xfrm>
            <a:off x="7955279" y="1417320"/>
            <a:ext cx="1828800" cy="2011680"/>
          </a:xfrm>
          <a:prstGeom prst="rect">
            <a:avLst/>
          </a:prstGeom>
          <a:solidFill>
            <a:srgbClr val="EB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Accent"/>
          <p:cNvSpPr/>
          <p:nvPr/>
        </p:nvSpPr>
        <p:spPr>
          <a:xfrm>
            <a:off x="7955279" y="1417320"/>
            <a:ext cx="1828800" cy="64008"/>
          </a:xfrm>
          <a:prstGeom prst="rect">
            <a:avLst/>
          </a:prstGeom>
          <a:solidFill>
            <a:srgbClr val="005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"/>
          <p:cNvSpPr txBox="1"/>
          <p:nvPr/>
        </p:nvSpPr>
        <p:spPr>
          <a:xfrm>
            <a:off x="7955279" y="1874519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005691"/>
                </a:solidFill>
                <a:latin typeface="Arial"/>
              </a:rPr>
              <a:t>60%</a:t>
            </a:r>
          </a:p>
        </p:txBody>
      </p:sp>
      <p:sp>
        <p:nvSpPr>
          <p:cNvPr id="15" name="KPILabel"/>
          <p:cNvSpPr txBox="1"/>
          <p:nvPr/>
        </p:nvSpPr>
        <p:spPr>
          <a:xfrm>
            <a:off x="7955279" y="27432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63238"/>
                </a:solidFill>
                <a:latin typeface="Arial"/>
              </a:rPr>
              <a:t>Sprint progress</a:t>
            </a:r>
          </a:p>
        </p:txBody>
      </p:sp>
      <p:sp>
        <p:nvSpPr>
          <p:cNvPr id="16" name="Card"/>
          <p:cNvSpPr/>
          <p:nvPr/>
        </p:nvSpPr>
        <p:spPr>
          <a:xfrm>
            <a:off x="9966959" y="1417320"/>
            <a:ext cx="1828800" cy="2011680"/>
          </a:xfrm>
          <a:prstGeom prst="rect">
            <a:avLst/>
          </a:prstGeom>
          <a:solidFill>
            <a:srgbClr val="EB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Accent"/>
          <p:cNvSpPr/>
          <p:nvPr/>
        </p:nvSpPr>
        <p:spPr>
          <a:xfrm>
            <a:off x="9966959" y="1417320"/>
            <a:ext cx="1828800" cy="64008"/>
          </a:xfrm>
          <a:prstGeom prst="rect">
            <a:avLst/>
          </a:prstGeom>
          <a:solidFill>
            <a:srgbClr val="005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"/>
          <p:cNvSpPr txBox="1"/>
          <p:nvPr/>
        </p:nvSpPr>
        <p:spPr>
          <a:xfrm>
            <a:off x="9966959" y="1874519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005691"/>
                </a:solidFill>
                <a:latin typeface="Arial"/>
              </a:rPr>
              <a:t>24/40</a:t>
            </a:r>
          </a:p>
        </p:txBody>
      </p:sp>
      <p:sp>
        <p:nvSpPr>
          <p:cNvPr id="19" name="KPILabel"/>
          <p:cNvSpPr txBox="1"/>
          <p:nvPr/>
        </p:nvSpPr>
        <p:spPr>
          <a:xfrm>
            <a:off x="9966959" y="27432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63238"/>
                </a:solidFill>
                <a:latin typeface="Arial"/>
              </a:rPr>
              <a:t>Points done</a:t>
            </a:r>
          </a:p>
        </p:txBody>
      </p:sp>
      <p:sp>
        <p:nvSpPr>
          <p:cNvPr id="20" name="Card"/>
          <p:cNvSpPr/>
          <p:nvPr/>
        </p:nvSpPr>
        <p:spPr>
          <a:xfrm>
            <a:off x="7955279" y="3611880"/>
            <a:ext cx="1828800" cy="2011680"/>
          </a:xfrm>
          <a:prstGeom prst="rect">
            <a:avLst/>
          </a:prstGeom>
          <a:solidFill>
            <a:srgbClr val="EB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Accent"/>
          <p:cNvSpPr/>
          <p:nvPr/>
        </p:nvSpPr>
        <p:spPr>
          <a:xfrm>
            <a:off x="7955279" y="3611880"/>
            <a:ext cx="1828800" cy="64008"/>
          </a:xfrm>
          <a:prstGeom prst="rect">
            <a:avLst/>
          </a:prstGeom>
          <a:solidFill>
            <a:srgbClr val="005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"/>
          <p:cNvSpPr txBox="1"/>
          <p:nvPr/>
        </p:nvSpPr>
        <p:spPr>
          <a:xfrm>
            <a:off x="7955279" y="4069080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005691"/>
                </a:solidFill>
                <a:latin typeface="Arial"/>
              </a:rPr>
              <a:t>5</a:t>
            </a:r>
          </a:p>
        </p:txBody>
      </p:sp>
      <p:sp>
        <p:nvSpPr>
          <p:cNvPr id="23" name="KPILabel"/>
          <p:cNvSpPr txBox="1"/>
          <p:nvPr/>
        </p:nvSpPr>
        <p:spPr>
          <a:xfrm>
            <a:off x="7955279" y="49377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63238"/>
                </a:solidFill>
                <a:latin typeface="Arial"/>
              </a:rPr>
              <a:t>Items done</a:t>
            </a:r>
          </a:p>
        </p:txBody>
      </p:sp>
      <p:sp>
        <p:nvSpPr>
          <p:cNvPr id="24" name="Card"/>
          <p:cNvSpPr/>
          <p:nvPr/>
        </p:nvSpPr>
        <p:spPr>
          <a:xfrm>
            <a:off x="9966959" y="3611880"/>
            <a:ext cx="1828800" cy="2011680"/>
          </a:xfrm>
          <a:prstGeom prst="rect">
            <a:avLst/>
          </a:prstGeom>
          <a:solidFill>
            <a:srgbClr val="EB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Accent"/>
          <p:cNvSpPr/>
          <p:nvPr/>
        </p:nvSpPr>
        <p:spPr>
          <a:xfrm>
            <a:off x="9966959" y="3611880"/>
            <a:ext cx="1828800" cy="64008"/>
          </a:xfrm>
          <a:prstGeom prst="rect">
            <a:avLst/>
          </a:prstGeom>
          <a:solidFill>
            <a:srgbClr val="005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"/>
          <p:cNvSpPr txBox="1"/>
          <p:nvPr/>
        </p:nvSpPr>
        <p:spPr>
          <a:xfrm>
            <a:off x="9966959" y="4069080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005691"/>
                </a:solidFill>
                <a:latin typeface="Arial"/>
              </a:rPr>
              <a:t>2</a:t>
            </a:r>
          </a:p>
        </p:txBody>
      </p:sp>
      <p:sp>
        <p:nvSpPr>
          <p:cNvPr id="27" name="KPILabel"/>
          <p:cNvSpPr txBox="1"/>
          <p:nvPr/>
        </p:nvSpPr>
        <p:spPr>
          <a:xfrm>
            <a:off x="9966959" y="49377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63238"/>
                </a:solidFill>
                <a:latin typeface="Arial"/>
              </a:rPr>
              <a:t>Items blocked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365760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5691"/>
                </a:solidFill>
                <a:latin typeface="Arial"/>
              </a:rPr>
              <a:t>Sprint Goal &amp; Burndown</a:t>
            </a:r>
          </a:p>
        </p:txBody>
      </p:sp>
      <p:sp>
        <p:nvSpPr>
          <p:cNvPr id="4" name="Accent"/>
          <p:cNvSpPr/>
          <p:nvPr/>
        </p:nvSpPr>
        <p:spPr>
          <a:xfrm>
            <a:off x="548640" y="1115568"/>
            <a:ext cx="822960" cy="54864"/>
          </a:xfrm>
          <a:prstGeom prst="rect">
            <a:avLst/>
          </a:prstGeom>
          <a:solidFill>
            <a:srgbClr val="ED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Icon" descr="go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411480"/>
            <a:ext cx="640080" cy="640080"/>
          </a:xfrm>
          <a:prstGeom prst="rect">
            <a:avLst/>
          </a:prstGeom>
        </p:spPr>
      </p:pic>
      <p:pic>
        <p:nvPicPr>
          <p:cNvPr id="6" name="ACKE Mark" descr="acke-logo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73952"/>
            <a:ext cx="292608" cy="292608"/>
          </a:xfrm>
          <a:prstGeom prst="rect">
            <a:avLst/>
          </a:prstGeom>
        </p:spPr>
      </p:pic>
      <p:sp>
        <p:nvSpPr>
          <p:cNvPr id="7" name="Footer"/>
          <p:cNvSpPr txBox="1"/>
          <p:nvPr/>
        </p:nvSpPr>
        <p:spPr>
          <a:xfrm>
            <a:off x="960120" y="6473952"/>
            <a:ext cx="8686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263238"/>
                </a:solidFill>
                <a:latin typeface="Arial"/>
              </a:rPr>
              <a:t>ACKE.in  |  Weekly Scrum Status  |  Digital Twin Team  |  Sprint 3  |  W42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98480" y="6473952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263238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0007"/>
                </a:solidFill>
                <a:latin typeface="Arial"/>
              </a:rPr>
              <a:t>SPRINT GOAL</a:t>
            </a:r>
          </a:p>
        </p:txBody>
      </p:sp>
      <p:sp>
        <p:nvSpPr>
          <p:cNvPr id="10" name="Goal"/>
          <p:cNvSpPr txBox="1"/>
          <p:nvPr/>
        </p:nvSpPr>
        <p:spPr>
          <a:xfrm>
            <a:off x="548640" y="1828800"/>
            <a:ext cx="4023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263238"/>
                </a:solidFill>
                <a:latin typeface="Arial"/>
              </a:rPr>
              <a:t>Ship the self-service onboarding flow to staging with audit logging enabled.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0007"/>
                </a:solidFill>
                <a:latin typeface="Arial"/>
              </a:rPr>
              <a:t>COMMITTED</a:t>
            </a:r>
          </a:p>
        </p:txBody>
      </p:sp>
      <p:sp>
        <p:nvSpPr>
          <p:cNvPr id="12" name="Committed"/>
          <p:cNvSpPr txBox="1"/>
          <p:nvPr/>
        </p:nvSpPr>
        <p:spPr>
          <a:xfrm>
            <a:off x="548640" y="5074920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05691"/>
                </a:solidFill>
                <a:latin typeface="Arial"/>
              </a:rPr>
              <a:t>40 points  ·  60% done</a:t>
            </a:r>
          </a:p>
        </p:txBody>
      </p:sp>
      <p:graphicFrame>
        <p:nvGraphicFramePr>
          <p:cNvPr id="13" name="Burndown"/>
          <p:cNvGraphicFramePr>
            <a:graphicFrameLocks noGrp="1"/>
          </p:cNvGraphicFramePr>
          <p:nvPr/>
        </p:nvGraphicFramePr>
        <p:xfrm>
          <a:off x="4937760" y="1371600"/>
          <a:ext cx="6675120" cy="48463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365760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5691"/>
                </a:solidFill>
                <a:latin typeface="Arial"/>
              </a:rPr>
              <a:t>Completed</a:t>
            </a:r>
          </a:p>
        </p:txBody>
      </p:sp>
      <p:sp>
        <p:nvSpPr>
          <p:cNvPr id="4" name="Accent"/>
          <p:cNvSpPr/>
          <p:nvPr/>
        </p:nvSpPr>
        <p:spPr>
          <a:xfrm>
            <a:off x="548640" y="1115568"/>
            <a:ext cx="822960" cy="54864"/>
          </a:xfrm>
          <a:prstGeom prst="rect">
            <a:avLst/>
          </a:prstGeom>
          <a:solidFill>
            <a:srgbClr val="ED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Icon" descr="d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411480"/>
            <a:ext cx="640080" cy="640080"/>
          </a:xfrm>
          <a:prstGeom prst="rect">
            <a:avLst/>
          </a:prstGeom>
        </p:spPr>
      </p:pic>
      <p:pic>
        <p:nvPicPr>
          <p:cNvPr id="6" name="ACKE Mark" descr="acke-logo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73952"/>
            <a:ext cx="292608" cy="292608"/>
          </a:xfrm>
          <a:prstGeom prst="rect">
            <a:avLst/>
          </a:prstGeom>
        </p:spPr>
      </p:pic>
      <p:sp>
        <p:nvSpPr>
          <p:cNvPr id="7" name="Footer"/>
          <p:cNvSpPr txBox="1"/>
          <p:nvPr/>
        </p:nvSpPr>
        <p:spPr>
          <a:xfrm>
            <a:off x="960120" y="6473952"/>
            <a:ext cx="8686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263238"/>
                </a:solidFill>
                <a:latin typeface="Arial"/>
              </a:rPr>
              <a:t>ACKE.in  |  Weekly Scrum Status  |  Digital Twin Team  |  Sprint 3  |  W42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98480" y="6473952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263238"/>
                </a:solidFill>
                <a:latin typeface="Arial"/>
              </a:rPr>
              <a:t>4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548640" y="1463040"/>
          <a:ext cx="11064240" cy="3017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/>
                <a:gridCol w="6583680"/>
                <a:gridCol w="2194560"/>
                <a:gridCol w="109728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anchor="ctr" marL="109728" marR="109728">
                    <a:solidFill>
                      <a:srgbClr val="0056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anchor="ctr" marL="109728" marR="109728">
                    <a:solidFill>
                      <a:srgbClr val="0056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anchor="ctr" marL="109728" marR="109728">
                    <a:solidFill>
                      <a:srgbClr val="0056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 anchor="ctr" marL="109728" marR="109728">
                    <a:solidFill>
                      <a:srgbClr val="00569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ACK-101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Onboarding REST API endpoints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Asha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ACK-104</a:t>
                      </a:r>
                    </a:p>
                  </a:txBody>
                  <a:tcPr anchor="ctr" marL="109728" marR="109728">
                    <a:solidFill>
                      <a:srgbClr val="EB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Audit log persistence layer</a:t>
                      </a:r>
                    </a:p>
                  </a:txBody>
                  <a:tcPr anchor="ctr" marL="109728" marR="109728">
                    <a:solidFill>
                      <a:srgbClr val="EB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Ravi</a:t>
                      </a:r>
                    </a:p>
                  </a:txBody>
                  <a:tcPr anchor="ctr" marL="109728" marR="109728">
                    <a:solidFill>
                      <a:srgbClr val="EB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109728" marR="109728">
                    <a:solidFill>
                      <a:srgbClr val="EBEF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ACK-107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Input validation for tenant creation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Meera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ACK-110</a:t>
                      </a:r>
                    </a:p>
                  </a:txBody>
                  <a:tcPr anchor="ctr" marL="109728" marR="109728">
                    <a:solidFill>
                      <a:srgbClr val="EB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CI pipeline caching</a:t>
                      </a:r>
                    </a:p>
                  </a:txBody>
                  <a:tcPr anchor="ctr" marL="109728" marR="109728">
                    <a:solidFill>
                      <a:srgbClr val="EB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Karthik</a:t>
                      </a:r>
                    </a:p>
                  </a:txBody>
                  <a:tcPr anchor="ctr" marL="109728" marR="109728">
                    <a:solidFill>
                      <a:srgbClr val="EB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109728" marR="109728">
                    <a:solidFill>
                      <a:srgbClr val="EBEF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ACK-112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Staging environment seed script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Asha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365760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5691"/>
                </a:solidFill>
                <a:latin typeface="Arial"/>
              </a:rPr>
              <a:t>In Progress</a:t>
            </a:r>
          </a:p>
        </p:txBody>
      </p:sp>
      <p:sp>
        <p:nvSpPr>
          <p:cNvPr id="4" name="Accent"/>
          <p:cNvSpPr/>
          <p:nvPr/>
        </p:nvSpPr>
        <p:spPr>
          <a:xfrm>
            <a:off x="548640" y="1115568"/>
            <a:ext cx="822960" cy="54864"/>
          </a:xfrm>
          <a:prstGeom prst="rect">
            <a:avLst/>
          </a:prstGeom>
          <a:solidFill>
            <a:srgbClr val="ED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Icon" descr="prog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411480"/>
            <a:ext cx="640080" cy="640080"/>
          </a:xfrm>
          <a:prstGeom prst="rect">
            <a:avLst/>
          </a:prstGeom>
        </p:spPr>
      </p:pic>
      <p:pic>
        <p:nvPicPr>
          <p:cNvPr id="6" name="ACKE Mark" descr="acke-logo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73952"/>
            <a:ext cx="292608" cy="292608"/>
          </a:xfrm>
          <a:prstGeom prst="rect">
            <a:avLst/>
          </a:prstGeom>
        </p:spPr>
      </p:pic>
      <p:sp>
        <p:nvSpPr>
          <p:cNvPr id="7" name="Footer"/>
          <p:cNvSpPr txBox="1"/>
          <p:nvPr/>
        </p:nvSpPr>
        <p:spPr>
          <a:xfrm>
            <a:off x="960120" y="6473952"/>
            <a:ext cx="8686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263238"/>
                </a:solidFill>
                <a:latin typeface="Arial"/>
              </a:rPr>
              <a:t>ACKE.in  |  Weekly Scrum Status  |  Digital Twin Team  |  Sprint 3  |  W42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98480" y="6473952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263238"/>
                </a:solidFill>
                <a:latin typeface="Arial"/>
              </a:rPr>
              <a:t>5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548640" y="1463040"/>
          <a:ext cx="11064240" cy="2514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/>
                <a:gridCol w="5486400"/>
                <a:gridCol w="2194560"/>
                <a:gridCol w="1097280"/>
                <a:gridCol w="109728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anchor="ctr" marL="109728" marR="109728">
                    <a:solidFill>
                      <a:srgbClr val="0056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anchor="ctr" marL="109728" marR="109728">
                    <a:solidFill>
                      <a:srgbClr val="0056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anchor="ctr" marL="109728" marR="109728">
                    <a:solidFill>
                      <a:srgbClr val="0056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 anchor="ctr" marL="109728" marR="109728">
                    <a:solidFill>
                      <a:srgbClr val="0056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Progress</a:t>
                      </a:r>
                    </a:p>
                  </a:txBody>
                  <a:tcPr anchor="ctr" marL="109728" marR="109728">
                    <a:solidFill>
                      <a:srgbClr val="00569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ACK-102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Onboarding UI wizard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Divya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ACK-105</a:t>
                      </a:r>
                    </a:p>
                  </a:txBody>
                  <a:tcPr anchor="ctr" marL="109728" marR="109728">
                    <a:solidFill>
                      <a:srgbClr val="EB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Audit log search screen</a:t>
                      </a:r>
                    </a:p>
                  </a:txBody>
                  <a:tcPr anchor="ctr" marL="109728" marR="109728">
                    <a:solidFill>
                      <a:srgbClr val="EB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Ravi</a:t>
                      </a:r>
                    </a:p>
                  </a:txBody>
                  <a:tcPr anchor="ctr" marL="109728" marR="109728">
                    <a:solidFill>
                      <a:srgbClr val="EB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109728" marR="109728">
                    <a:solidFill>
                      <a:srgbClr val="EB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anchor="ctr" marL="109728" marR="109728">
                    <a:solidFill>
                      <a:srgbClr val="EBEF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ACK-108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Role-based access checks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Meera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ACK-113</a:t>
                      </a:r>
                    </a:p>
                  </a:txBody>
                  <a:tcPr anchor="ctr" marL="109728" marR="109728">
                    <a:solidFill>
                      <a:srgbClr val="EB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Load test baseline</a:t>
                      </a:r>
                    </a:p>
                  </a:txBody>
                  <a:tcPr anchor="ctr" marL="109728" marR="109728">
                    <a:solidFill>
                      <a:srgbClr val="EB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Karthik</a:t>
                      </a:r>
                    </a:p>
                  </a:txBody>
                  <a:tcPr anchor="ctr" marL="109728" marR="109728">
                    <a:solidFill>
                      <a:srgbClr val="EB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109728" marR="109728">
                    <a:solidFill>
                      <a:srgbClr val="EB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anchor="ctr" marL="109728" marR="109728">
                    <a:solidFill>
                      <a:srgbClr val="EBEF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365760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5691"/>
                </a:solidFill>
                <a:latin typeface="Arial"/>
              </a:rPr>
              <a:t>Blockers &amp; Risks</a:t>
            </a:r>
          </a:p>
        </p:txBody>
      </p:sp>
      <p:sp>
        <p:nvSpPr>
          <p:cNvPr id="4" name="Accent"/>
          <p:cNvSpPr/>
          <p:nvPr/>
        </p:nvSpPr>
        <p:spPr>
          <a:xfrm>
            <a:off x="548640" y="1115568"/>
            <a:ext cx="822960" cy="54864"/>
          </a:xfrm>
          <a:prstGeom prst="rect">
            <a:avLst/>
          </a:prstGeom>
          <a:solidFill>
            <a:srgbClr val="ED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Icon" descr="bloc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411480"/>
            <a:ext cx="640080" cy="640080"/>
          </a:xfrm>
          <a:prstGeom prst="rect">
            <a:avLst/>
          </a:prstGeom>
        </p:spPr>
      </p:pic>
      <p:pic>
        <p:nvPicPr>
          <p:cNvPr id="6" name="ACKE Mark" descr="acke-logo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73952"/>
            <a:ext cx="292608" cy="292608"/>
          </a:xfrm>
          <a:prstGeom prst="rect">
            <a:avLst/>
          </a:prstGeom>
        </p:spPr>
      </p:pic>
      <p:sp>
        <p:nvSpPr>
          <p:cNvPr id="7" name="Footer"/>
          <p:cNvSpPr txBox="1"/>
          <p:nvPr/>
        </p:nvSpPr>
        <p:spPr>
          <a:xfrm>
            <a:off x="960120" y="6473952"/>
            <a:ext cx="8686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263238"/>
                </a:solidFill>
                <a:latin typeface="Arial"/>
              </a:rPr>
              <a:t>ACKE.in  |  Weekly Scrum Status  |  Digital Twin Team  |  Sprint 3  |  W42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98480" y="6473952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263238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0007"/>
                </a:solidFill>
                <a:latin typeface="Arial"/>
              </a:rPr>
              <a:t>BLOCKERS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0007"/>
                </a:solidFill>
                <a:latin typeface="Arial"/>
              </a:rPr>
              <a:t>RISKS</a:t>
            </a:r>
          </a:p>
        </p:txBody>
      </p:sp>
      <p:sp>
        <p:nvSpPr>
          <p:cNvPr id="11" name="Card"/>
          <p:cNvSpPr/>
          <p:nvPr/>
        </p:nvSpPr>
        <p:spPr>
          <a:xfrm>
            <a:off x="548640" y="1828800"/>
            <a:ext cx="5394960" cy="1280160"/>
          </a:xfrm>
          <a:prstGeom prst="rect">
            <a:avLst/>
          </a:prstGeom>
          <a:solidFill>
            <a:srgbClr val="EB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Accent"/>
          <p:cNvSpPr/>
          <p:nvPr/>
        </p:nvSpPr>
        <p:spPr>
          <a:xfrm>
            <a:off x="548640" y="1828800"/>
            <a:ext cx="91440" cy="1280160"/>
          </a:xfrm>
          <a:prstGeom prst="rect">
            <a:avLst/>
          </a:prstGeom>
          <a:solidFill>
            <a:srgbClr val="ED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Text"/>
          <p:cNvSpPr txBox="1"/>
          <p:nvPr/>
        </p:nvSpPr>
        <p:spPr>
          <a:xfrm>
            <a:off x="822959" y="1938528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263238"/>
                </a:solidFill>
                <a:latin typeface="Arial"/>
              </a:rPr>
              <a:t>ACK-103  –  SSO integration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63238"/>
                </a:solidFill>
                <a:latin typeface="Arial"/>
              </a:rPr>
              <a:t>Owner: Asha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63238"/>
                </a:solidFill>
                <a:latin typeface="Arial"/>
              </a:rPr>
              <a:t>Ask: Vendor sandbox credentials needed by Mon</a:t>
            </a:r>
          </a:p>
        </p:txBody>
      </p:sp>
      <p:sp>
        <p:nvSpPr>
          <p:cNvPr id="14" name="Card"/>
          <p:cNvSpPr/>
          <p:nvPr/>
        </p:nvSpPr>
        <p:spPr>
          <a:xfrm>
            <a:off x="548640" y="3291840"/>
            <a:ext cx="5394960" cy="1280160"/>
          </a:xfrm>
          <a:prstGeom prst="rect">
            <a:avLst/>
          </a:prstGeom>
          <a:solidFill>
            <a:srgbClr val="EB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Accent"/>
          <p:cNvSpPr/>
          <p:nvPr/>
        </p:nvSpPr>
        <p:spPr>
          <a:xfrm>
            <a:off x="548640" y="3291840"/>
            <a:ext cx="91440" cy="1280160"/>
          </a:xfrm>
          <a:prstGeom prst="rect">
            <a:avLst/>
          </a:prstGeom>
          <a:solidFill>
            <a:srgbClr val="ED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Text"/>
          <p:cNvSpPr txBox="1"/>
          <p:nvPr/>
        </p:nvSpPr>
        <p:spPr>
          <a:xfrm>
            <a:off x="822959" y="3401568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263238"/>
                </a:solidFill>
                <a:latin typeface="Arial"/>
              </a:rPr>
              <a:t>ACK-109  –  Email notification templates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63238"/>
                </a:solidFill>
                <a:latin typeface="Arial"/>
              </a:rPr>
              <a:t>Owner: Divya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63238"/>
                </a:solidFill>
                <a:latin typeface="Arial"/>
              </a:rPr>
              <a:t>Ask: Approved copy from Marketing</a:t>
            </a:r>
          </a:p>
        </p:txBody>
      </p:sp>
      <p:sp>
        <p:nvSpPr>
          <p:cNvPr id="17" name="Card"/>
          <p:cNvSpPr/>
          <p:nvPr/>
        </p:nvSpPr>
        <p:spPr>
          <a:xfrm>
            <a:off x="6309360" y="1828800"/>
            <a:ext cx="5394960" cy="1280160"/>
          </a:xfrm>
          <a:prstGeom prst="rect">
            <a:avLst/>
          </a:prstGeom>
          <a:solidFill>
            <a:srgbClr val="EB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Accent"/>
          <p:cNvSpPr/>
          <p:nvPr/>
        </p:nvSpPr>
        <p:spPr>
          <a:xfrm>
            <a:off x="6309360" y="1828800"/>
            <a:ext cx="91440" cy="1280160"/>
          </a:xfrm>
          <a:prstGeom prst="rect">
            <a:avLst/>
          </a:prstGeom>
          <a:solidFill>
            <a:srgbClr val="ED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Text"/>
          <p:cNvSpPr txBox="1"/>
          <p:nvPr/>
        </p:nvSpPr>
        <p:spPr>
          <a:xfrm>
            <a:off x="6583680" y="1938528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263238"/>
                </a:solidFill>
                <a:latin typeface="Arial"/>
              </a:rPr>
              <a:t>SSO vendor delay may miss sprint goal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63238"/>
                </a:solidFill>
                <a:latin typeface="Arial"/>
              </a:rPr>
              <a:t>Severity: HIGH  ·  Owner: Asha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63238"/>
                </a:solidFill>
                <a:latin typeface="Arial"/>
              </a:rPr>
              <a:t>Mitigation: Mock SSO provider behind a feature flag</a:t>
            </a:r>
          </a:p>
        </p:txBody>
      </p:sp>
      <p:sp>
        <p:nvSpPr>
          <p:cNvPr id="20" name="Card"/>
          <p:cNvSpPr/>
          <p:nvPr/>
        </p:nvSpPr>
        <p:spPr>
          <a:xfrm>
            <a:off x="6309360" y="3291840"/>
            <a:ext cx="5394960" cy="1280160"/>
          </a:xfrm>
          <a:prstGeom prst="rect">
            <a:avLst/>
          </a:prstGeom>
          <a:solidFill>
            <a:srgbClr val="EB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Accent"/>
          <p:cNvSpPr/>
          <p:nvPr/>
        </p:nvSpPr>
        <p:spPr>
          <a:xfrm>
            <a:off x="6309360" y="3291840"/>
            <a:ext cx="91440" cy="128016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Text"/>
          <p:cNvSpPr txBox="1"/>
          <p:nvPr/>
        </p:nvSpPr>
        <p:spPr>
          <a:xfrm>
            <a:off x="6583680" y="3401568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263238"/>
                </a:solidFill>
                <a:latin typeface="Arial"/>
              </a:rPr>
              <a:t>Shared test environment instability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63238"/>
                </a:solidFill>
                <a:latin typeface="Arial"/>
              </a:rPr>
              <a:t>Severity: MEDIUM  ·  Owner: Karthik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63238"/>
                </a:solidFill>
                <a:latin typeface="Arial"/>
              </a:rPr>
              <a:t>Mitigation: Dedicated namespace requested from DevOps</a:t>
            </a:r>
          </a:p>
        </p:txBody>
      </p:sp>
      <p:sp>
        <p:nvSpPr>
          <p:cNvPr id="23" name="Card"/>
          <p:cNvSpPr/>
          <p:nvPr/>
        </p:nvSpPr>
        <p:spPr>
          <a:xfrm>
            <a:off x="6309360" y="4754880"/>
            <a:ext cx="5394960" cy="1280160"/>
          </a:xfrm>
          <a:prstGeom prst="rect">
            <a:avLst/>
          </a:prstGeom>
          <a:solidFill>
            <a:srgbClr val="EB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Accent"/>
          <p:cNvSpPr/>
          <p:nvPr/>
        </p:nvSpPr>
        <p:spPr>
          <a:xfrm>
            <a:off x="6309360" y="4754880"/>
            <a:ext cx="91440" cy="1280160"/>
          </a:xfrm>
          <a:prstGeom prst="rect">
            <a:avLst/>
          </a:prstGeom>
          <a:solidFill>
            <a:srgbClr val="3E9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Text"/>
          <p:cNvSpPr txBox="1"/>
          <p:nvPr/>
        </p:nvSpPr>
        <p:spPr>
          <a:xfrm>
            <a:off x="6583680" y="4864608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263238"/>
                </a:solidFill>
                <a:latin typeface="Arial"/>
              </a:rPr>
              <a:t>Holiday leave reduces capacity next week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63238"/>
                </a:solidFill>
                <a:latin typeface="Arial"/>
              </a:rPr>
              <a:t>Severity: LOW  ·  Owner: Scrum Master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63238"/>
                </a:solidFill>
                <a:latin typeface="Arial"/>
              </a:rPr>
              <a:t>Mitigation: Re-plan scope on Monday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365760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5691"/>
                </a:solidFill>
                <a:latin typeface="Arial"/>
              </a:rPr>
              <a:t>Velocity</a:t>
            </a:r>
          </a:p>
        </p:txBody>
      </p:sp>
      <p:sp>
        <p:nvSpPr>
          <p:cNvPr id="4" name="Accent"/>
          <p:cNvSpPr/>
          <p:nvPr/>
        </p:nvSpPr>
        <p:spPr>
          <a:xfrm>
            <a:off x="548640" y="1115568"/>
            <a:ext cx="822960" cy="54864"/>
          </a:xfrm>
          <a:prstGeom prst="rect">
            <a:avLst/>
          </a:prstGeom>
          <a:solidFill>
            <a:srgbClr val="ED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Icon" descr="velo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411480"/>
            <a:ext cx="640080" cy="640080"/>
          </a:xfrm>
          <a:prstGeom prst="rect">
            <a:avLst/>
          </a:prstGeom>
        </p:spPr>
      </p:pic>
      <p:pic>
        <p:nvPicPr>
          <p:cNvPr id="6" name="ACKE Mark" descr="acke-logo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73952"/>
            <a:ext cx="292608" cy="292608"/>
          </a:xfrm>
          <a:prstGeom prst="rect">
            <a:avLst/>
          </a:prstGeom>
        </p:spPr>
      </p:pic>
      <p:sp>
        <p:nvSpPr>
          <p:cNvPr id="7" name="Footer"/>
          <p:cNvSpPr txBox="1"/>
          <p:nvPr/>
        </p:nvSpPr>
        <p:spPr>
          <a:xfrm>
            <a:off x="960120" y="6473952"/>
            <a:ext cx="8686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263238"/>
                </a:solidFill>
                <a:latin typeface="Arial"/>
              </a:rPr>
              <a:t>ACKE.in  |  Weekly Scrum Status  |  Digital Twin Team  |  Sprint 3  |  W42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98480" y="6473952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263238"/>
                </a:solidFill>
                <a:latin typeface="Arial"/>
              </a:rPr>
              <a:t>7</a:t>
            </a:r>
          </a:p>
        </p:txBody>
      </p:sp>
      <p:graphicFrame>
        <p:nvGraphicFramePr>
          <p:cNvPr id="9" name="VelocityChart"/>
          <p:cNvGraphicFramePr>
            <a:graphicFrameLocks noGrp="1"/>
          </p:cNvGraphicFramePr>
          <p:nvPr/>
        </p:nvGraphicFramePr>
        <p:xfrm>
          <a:off x="548640" y="1371600"/>
          <a:ext cx="7680960" cy="48463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0" name="Card"/>
          <p:cNvSpPr/>
          <p:nvPr/>
        </p:nvSpPr>
        <p:spPr>
          <a:xfrm>
            <a:off x="8686800" y="1463040"/>
            <a:ext cx="2926080" cy="2011680"/>
          </a:xfrm>
          <a:prstGeom prst="rect">
            <a:avLst/>
          </a:prstGeom>
          <a:solidFill>
            <a:srgbClr val="EB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Accent"/>
          <p:cNvSpPr/>
          <p:nvPr/>
        </p:nvSpPr>
        <p:spPr>
          <a:xfrm>
            <a:off x="8686800" y="1463040"/>
            <a:ext cx="2926080" cy="64008"/>
          </a:xfrm>
          <a:prstGeom prst="rect">
            <a:avLst/>
          </a:prstGeom>
          <a:solidFill>
            <a:srgbClr val="005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PI"/>
          <p:cNvSpPr txBox="1"/>
          <p:nvPr/>
        </p:nvSpPr>
        <p:spPr>
          <a:xfrm>
            <a:off x="8686800" y="1874520"/>
            <a:ext cx="2926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005691"/>
                </a:solidFill>
                <a:latin typeface="Arial"/>
              </a:rPr>
              <a:t>34.4</a:t>
            </a:r>
          </a:p>
        </p:txBody>
      </p:sp>
      <p:sp>
        <p:nvSpPr>
          <p:cNvPr id="13" name="KPILabel"/>
          <p:cNvSpPr txBox="1"/>
          <p:nvPr/>
        </p:nvSpPr>
        <p:spPr>
          <a:xfrm>
            <a:off x="8686800" y="28346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263238"/>
                </a:solidFill>
                <a:latin typeface="Arial"/>
              </a:rPr>
              <a:t>Average velocity</a:t>
            </a:r>
          </a:p>
        </p:txBody>
      </p:sp>
      <p:sp>
        <p:nvSpPr>
          <p:cNvPr id="14" name="Card"/>
          <p:cNvSpPr/>
          <p:nvPr/>
        </p:nvSpPr>
        <p:spPr>
          <a:xfrm>
            <a:off x="8686800" y="3749039"/>
            <a:ext cx="2926080" cy="2011680"/>
          </a:xfrm>
          <a:prstGeom prst="rect">
            <a:avLst/>
          </a:prstGeom>
          <a:solidFill>
            <a:srgbClr val="EB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Accent"/>
          <p:cNvSpPr/>
          <p:nvPr/>
        </p:nvSpPr>
        <p:spPr>
          <a:xfrm>
            <a:off x="8686800" y="3749039"/>
            <a:ext cx="2926080" cy="64008"/>
          </a:xfrm>
          <a:prstGeom prst="rect">
            <a:avLst/>
          </a:prstGeom>
          <a:solidFill>
            <a:srgbClr val="005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KPI"/>
          <p:cNvSpPr txBox="1"/>
          <p:nvPr/>
        </p:nvSpPr>
        <p:spPr>
          <a:xfrm>
            <a:off x="8686800" y="4160520"/>
            <a:ext cx="2926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005691"/>
                </a:solidFill>
                <a:latin typeface="Arial"/>
              </a:rPr>
              <a:t>92%</a:t>
            </a:r>
          </a:p>
        </p:txBody>
      </p:sp>
      <p:sp>
        <p:nvSpPr>
          <p:cNvPr id="17" name="KPILabel"/>
          <p:cNvSpPr txBox="1"/>
          <p:nvPr/>
        </p:nvSpPr>
        <p:spPr>
          <a:xfrm>
            <a:off x="8686800" y="51206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263238"/>
                </a:solidFill>
                <a:latin typeface="Arial"/>
              </a:rPr>
              <a:t>Commitment reliability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548640" y="365760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005691"/>
                </a:solidFill>
                <a:latin typeface="Arial"/>
              </a:rPr>
              <a:t>Next Week Plan</a:t>
            </a:r>
          </a:p>
        </p:txBody>
      </p:sp>
      <p:sp>
        <p:nvSpPr>
          <p:cNvPr id="4" name="Accent"/>
          <p:cNvSpPr/>
          <p:nvPr/>
        </p:nvSpPr>
        <p:spPr>
          <a:xfrm>
            <a:off x="548640" y="1115568"/>
            <a:ext cx="822960" cy="54864"/>
          </a:xfrm>
          <a:prstGeom prst="rect">
            <a:avLst/>
          </a:prstGeom>
          <a:solidFill>
            <a:srgbClr val="ED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Icon" descr="n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411480"/>
            <a:ext cx="640080" cy="640080"/>
          </a:xfrm>
          <a:prstGeom prst="rect">
            <a:avLst/>
          </a:prstGeom>
        </p:spPr>
      </p:pic>
      <p:pic>
        <p:nvPicPr>
          <p:cNvPr id="6" name="ACKE Mark" descr="acke-logo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73952"/>
            <a:ext cx="292608" cy="292608"/>
          </a:xfrm>
          <a:prstGeom prst="rect">
            <a:avLst/>
          </a:prstGeom>
        </p:spPr>
      </p:pic>
      <p:sp>
        <p:nvSpPr>
          <p:cNvPr id="7" name="Footer"/>
          <p:cNvSpPr txBox="1"/>
          <p:nvPr/>
        </p:nvSpPr>
        <p:spPr>
          <a:xfrm>
            <a:off x="960120" y="6473952"/>
            <a:ext cx="8686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263238"/>
                </a:solidFill>
                <a:latin typeface="Arial"/>
              </a:rPr>
              <a:t>ACKE.in  |  Weekly Scrum Status  |  Digital Twin Team  |  Sprint 3  |  W42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98480" y="6473952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263238"/>
                </a:solidFill>
                <a:latin typeface="Arial"/>
              </a:rPr>
              <a:t>8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548640" y="1463040"/>
          <a:ext cx="11064240" cy="3017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31520"/>
                <a:gridCol w="813816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anchor="ctr" marL="109728" marR="109728">
                    <a:solidFill>
                      <a:srgbClr val="0056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Planned work</a:t>
                      </a:r>
                    </a:p>
                  </a:txBody>
                  <a:tcPr anchor="ctr" marL="109728" marR="109728">
                    <a:solidFill>
                      <a:srgbClr val="0056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anchor="ctr" marL="109728" marR="109728">
                    <a:solidFill>
                      <a:srgbClr val="00569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Complete onboarding UI wizard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Divya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109728" marR="109728">
                    <a:solidFill>
                      <a:srgbClr val="EB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Deliver audit log search screen</a:t>
                      </a:r>
                    </a:p>
                  </a:txBody>
                  <a:tcPr anchor="ctr" marL="109728" marR="109728">
                    <a:solidFill>
                      <a:srgbClr val="EB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Ravi</a:t>
                      </a:r>
                    </a:p>
                  </a:txBody>
                  <a:tcPr anchor="ctr" marL="109728" marR="109728">
                    <a:solidFill>
                      <a:srgbClr val="EBEF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Finish role-based access checks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Meera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109728" marR="109728">
                    <a:solidFill>
                      <a:srgbClr val="EB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Unblock SSO via mock provider</a:t>
                      </a:r>
                    </a:p>
                  </a:txBody>
                  <a:tcPr anchor="ctr" marL="109728" marR="109728">
                    <a:solidFill>
                      <a:srgbClr val="EB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Asha</a:t>
                      </a:r>
                    </a:p>
                  </a:txBody>
                  <a:tcPr anchor="ctr" marL="109728" marR="109728">
                    <a:solidFill>
                      <a:srgbClr val="EBEF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Run load test and publish baseline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3238"/>
                          </a:solidFill>
                          <a:latin typeface="Arial"/>
                        </a:rPr>
                        <a:t>Karthik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CKE Logo" descr="acke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731520"/>
            <a:ext cx="3182112" cy="82296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731520" y="265176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731520" y="39319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00A9E0"/>
                </a:solidFill>
                <a:latin typeface="Arial"/>
              </a:rPr>
              <a:t>Questions and blocker decisions welcome</a:t>
            </a:r>
          </a:p>
        </p:txBody>
      </p:sp>
      <p:sp>
        <p:nvSpPr>
          <p:cNvPr id="6" name="Contact"/>
          <p:cNvSpPr txBox="1"/>
          <p:nvPr/>
        </p:nvSpPr>
        <p:spPr>
          <a:xfrm>
            <a:off x="731520" y="47548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scrum@acke.in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ACKE.in Weekly Scrum Status - Sprint 3 W42</dc:title>
  <dc:subject/>
  <dc:creator>ACKE.in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